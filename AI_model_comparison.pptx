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b="1" sz="1100">
                <a:solidFill>
                  <a:srgbClr val="202020"/>
                </a:solidFill>
              </a:defRPr>
            </a:pPr>
            <a:r>
              <a:t>a.  Response quality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non-sycophantic AI model</c:v>
                </c:pt>
              </c:strCache>
            </c:strRef>
          </c:tx>
          <c:spPr>
            <a:solidFill>
              <a:srgbClr val="88C0D8"/>
            </a:solidFill>
          </c:spPr>
          <c:dPt>
            <c:idx val="0"/>
            <c:spPr>
              <a:solidFill>
                <a:srgbClr val="88C0D8"/>
              </a:solidFill>
            </c:spPr>
          </c:dPt>
          <c:dPt>
            <c:idx val="1"/>
            <c:spPr>
              <a:solidFill>
                <a:srgbClr val="88C0D8"/>
              </a:solidFill>
            </c:spPr>
          </c:dPt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4.92</c:v>
                </c:pt>
                <c:pt idx="1">
                  <c:v>5.32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sycophantic AI model</c:v>
                </c:pt>
              </c:strCache>
            </c:strRef>
          </c:tx>
          <c:spPr>
            <a:solidFill>
              <a:srgbClr val="E09A3A"/>
            </a:solidFill>
          </c:spPr>
          <c:dPt>
            <c:idx val="0"/>
            <c:spPr>
              <a:solidFill>
                <a:srgbClr val="E09A3A"/>
              </a:solidFill>
            </c:spPr>
          </c:dPt>
          <c:dPt>
            <c:idx val="1"/>
            <c:spPr>
              <a:solidFill>
                <a:srgbClr val="E09A3A"/>
              </a:solidFill>
            </c:spPr>
          </c:dPt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5.34</c:v>
                </c:pt>
                <c:pt idx="1">
                  <c:v>5.78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2.0"/>
        </c:scaling>
        <c:delete val="0"/>
        <c:axPos val="b"/>
        <c:majorGridlines/>
        <c:title>
          <c:tx>
            <c:rich>
              <a:bodyPr/>
              <a:lstStyle/>
              <a:p>
                <a:pPr algn="ctr">
                  <a:defRPr sz="900" b="0">
                    <a:solidFill>
                      <a:srgbClr val="404040"/>
                    </a:solidFill>
                  </a:defRPr>
                </a:pPr>
                <a:r>
                  <a:t>Mean (1-7)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06060"/>
                </a:solidFill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b="1" sz="1100">
                <a:solidFill>
                  <a:srgbClr val="202020"/>
                </a:solidFill>
              </a:defRPr>
            </a:pPr>
            <a:r>
              <a:t>b.  Return likelihood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non-sycophantic AI model</c:v>
                </c:pt>
              </c:strCache>
            </c:strRef>
          </c:tx>
          <c:spPr>
            <a:solidFill>
              <a:srgbClr val="88C0D8"/>
            </a:solidFill>
          </c:spPr>
          <c:dPt>
            <c:idx val="0"/>
            <c:spPr>
              <a:solidFill>
                <a:srgbClr val="88C0D8"/>
              </a:solidFill>
            </c:spPr>
          </c:dPt>
          <c:dPt>
            <c:idx val="1"/>
            <c:spPr>
              <a:solidFill>
                <a:srgbClr val="88C0D8"/>
              </a:solidFill>
            </c:spPr>
          </c:dPt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4.27</c:v>
                </c:pt>
                <c:pt idx="1">
                  <c:v>4.73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sycophantic AI model</c:v>
                </c:pt>
              </c:strCache>
            </c:strRef>
          </c:tx>
          <c:spPr>
            <a:solidFill>
              <a:srgbClr val="E09A3A"/>
            </a:solidFill>
          </c:spPr>
          <c:dPt>
            <c:idx val="0"/>
            <c:spPr>
              <a:solidFill>
                <a:srgbClr val="E09A3A"/>
              </a:solidFill>
            </c:spPr>
          </c:dPt>
          <c:dPt>
            <c:idx val="1"/>
            <c:spPr>
              <a:solidFill>
                <a:srgbClr val="E09A3A"/>
              </a:solidFill>
            </c:spPr>
          </c:dPt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4.81</c:v>
                </c:pt>
                <c:pt idx="1">
                  <c:v>5.34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2.0"/>
        </c:scaling>
        <c:delete val="0"/>
        <c:axPos val="b"/>
        <c:majorGridlines/>
        <c:title>
          <c:tx>
            <c:rich>
              <a:bodyPr/>
              <a:lstStyle/>
              <a:p>
                <a:pPr algn="ctr">
                  <a:defRPr sz="900" b="0">
                    <a:solidFill>
                      <a:srgbClr val="404040"/>
                    </a:solidFill>
                  </a:defRPr>
                </a:pPr>
                <a:r>
                  <a:t>Mean (1-7)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06060"/>
                </a:solidFill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b="1" sz="1100">
                <a:solidFill>
                  <a:srgbClr val="202020"/>
                </a:solidFill>
              </a:defRPr>
            </a:pPr>
            <a:r>
              <a:t>c.  Performance trust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non-sycophantic AI model</c:v>
                </c:pt>
              </c:strCache>
            </c:strRef>
          </c:tx>
          <c:spPr>
            <a:solidFill>
              <a:srgbClr val="88C0D8"/>
            </a:solidFill>
          </c:spPr>
          <c:dPt>
            <c:idx val="0"/>
            <c:spPr>
              <a:solidFill>
                <a:srgbClr val="88C0D8"/>
              </a:solidFill>
            </c:spPr>
          </c:dPt>
          <c:dPt>
            <c:idx val="1"/>
            <c:spPr>
              <a:solidFill>
                <a:srgbClr val="88C0D8"/>
              </a:solidFill>
            </c:spPr>
          </c:dPt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4.68</c:v>
                </c:pt>
                <c:pt idx="1">
                  <c:v>5.27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sycophantic AI model</c:v>
                </c:pt>
              </c:strCache>
            </c:strRef>
          </c:tx>
          <c:spPr>
            <a:solidFill>
              <a:srgbClr val="E09A3A"/>
            </a:solidFill>
          </c:spPr>
          <c:dPt>
            <c:idx val="0"/>
            <c:spPr>
              <a:solidFill>
                <a:srgbClr val="E09A3A"/>
              </a:solidFill>
            </c:spPr>
          </c:dPt>
          <c:dPt>
            <c:idx val="1"/>
            <c:spPr>
              <a:solidFill>
                <a:srgbClr val="E09A3A"/>
              </a:solidFill>
            </c:spPr>
          </c:dPt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4.95</c:v>
                </c:pt>
                <c:pt idx="1">
                  <c:v>5.7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2.0"/>
        </c:scaling>
        <c:delete val="0"/>
        <c:axPos val="b"/>
        <c:majorGridlines/>
        <c:title>
          <c:tx>
            <c:rich>
              <a:bodyPr/>
              <a:lstStyle/>
              <a:p>
                <a:pPr algn="ctr">
                  <a:defRPr sz="900" b="0">
                    <a:solidFill>
                      <a:srgbClr val="404040"/>
                    </a:solidFill>
                  </a:defRPr>
                </a:pPr>
                <a:r>
                  <a:t>Mean (1-7)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06060"/>
                </a:solidFill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b="1" sz="1100">
                <a:solidFill>
                  <a:srgbClr val="202020"/>
                </a:solidFill>
              </a:defRPr>
            </a:pPr>
            <a:r>
              <a:t>d.  Moral trust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non-sycophantic AI model</c:v>
                </c:pt>
              </c:strCache>
            </c:strRef>
          </c:tx>
          <c:spPr>
            <a:solidFill>
              <a:srgbClr val="88C0D8"/>
            </a:solidFill>
          </c:spPr>
          <c:dPt>
            <c:idx val="0"/>
            <c:spPr>
              <a:solidFill>
                <a:srgbClr val="88C0D8"/>
              </a:solidFill>
            </c:spPr>
          </c:dPt>
          <c:dPt>
            <c:idx val="1"/>
            <c:spPr>
              <a:solidFill>
                <a:srgbClr val="88C0D8"/>
              </a:solidFill>
            </c:spPr>
          </c:dPt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4.57</c:v>
                </c:pt>
                <c:pt idx="1">
                  <c:v>5.13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sycophantic AI model</c:v>
                </c:pt>
              </c:strCache>
            </c:strRef>
          </c:tx>
          <c:spPr>
            <a:solidFill>
              <a:srgbClr val="E09A3A"/>
            </a:solidFill>
          </c:spPr>
          <c:dPt>
            <c:idx val="0"/>
            <c:spPr>
              <a:solidFill>
                <a:srgbClr val="E09A3A"/>
              </a:solidFill>
            </c:spPr>
          </c:dPt>
          <c:dPt>
            <c:idx val="1"/>
            <c:spPr>
              <a:solidFill>
                <a:srgbClr val="E09A3A"/>
              </a:solidFill>
            </c:spPr>
          </c:dPt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4.86</c:v>
                </c:pt>
                <c:pt idx="1">
                  <c:v>5.58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2.0"/>
        </c:scaling>
        <c:delete val="0"/>
        <c:axPos val="b"/>
        <c:majorGridlines/>
        <c:title>
          <c:tx>
            <c:rich>
              <a:bodyPr/>
              <a:lstStyle/>
              <a:p>
                <a:pPr algn="ctr">
                  <a:defRPr sz="900" b="0">
                    <a:solidFill>
                      <a:srgbClr val="404040"/>
                    </a:solidFill>
                  </a:defRPr>
                </a:pPr>
                <a:r>
                  <a:t>Mean (1-7)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06060"/>
                </a:solidFill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4119372" y="201168"/>
            <a:ext cx="3858768" cy="292608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48640" y="822960"/>
          <a:ext cx="5500116.0" cy="2743200.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323076.0" y="822960"/>
          <a:ext cx="5500116.0" cy="2743200.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3840480.0"/>
          <a:ext cx="5500116.0" cy="2743200.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23076.0" y="3840480.0"/>
          <a:ext cx="5500116.0" cy="2743200.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4165092" y="246888"/>
            <a:ext cx="201168" cy="201168"/>
          </a:xfrm>
          <a:prstGeom prst="rect">
            <a:avLst/>
          </a:prstGeom>
          <a:solidFill>
            <a:srgbClr val="88C0D8"/>
          </a:solidFill>
          <a:ln>
            <a:solidFill>
              <a:srgbClr val="8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2836" y="20116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t>non-sycophantic AI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246888"/>
            <a:ext cx="201168" cy="201168"/>
          </a:xfrm>
          <a:prstGeom prst="rect">
            <a:avLst/>
          </a:prstGeom>
          <a:solidFill>
            <a:srgbClr val="E09A3A"/>
          </a:solidFill>
          <a:ln>
            <a:solidFill>
              <a:srgbClr val="E0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4516" y="20116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t>sycophantic AI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