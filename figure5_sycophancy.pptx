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 b="1">
                <a:solidFill>
                  <a:srgbClr val="333333"/>
                </a:solidFill>
              </a:defRPr>
            </a:pPr>
            <a:r>
              <a:t>a.  Response quality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non-sycophantic AI model</c:v>
                </c:pt>
              </c:strCache>
            </c:strRef>
          </c:tx>
          <c:spPr>
            <a:solidFill>
              <a:srgbClr val="87C2E0"/>
            </a:solidFill>
          </c:spPr>
          <c:cat>
            <c:strRef>
              <c:f>Sheet1!$A$2:$A$3</c:f>
              <c:strCache>
                <c:ptCount val="2"/>
                <c:pt idx="0">
                  <c:v>Study 2</c:v>
                </c:pt>
                <c:pt idx="1">
                  <c:v>Study 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4.95</c:v>
                </c:pt>
                <c:pt idx="1">
                  <c:v>5.3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sycophantic AI model</c:v>
                </c:pt>
              </c:strCache>
            </c:strRef>
          </c:tx>
          <c:spPr>
            <a:solidFill>
              <a:srgbClr val="E8963C"/>
            </a:solidFill>
          </c:spPr>
          <c:cat>
            <c:strRef>
              <c:f>Sheet1!$A$2:$A$3</c:f>
              <c:strCache>
                <c:ptCount val="2"/>
                <c:pt idx="0">
                  <c:v>Study 2</c:v>
                </c:pt>
                <c:pt idx="1">
                  <c:v>Study 3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5.37</c:v>
                </c:pt>
                <c:pt idx="1">
                  <c:v>5.76</c:v>
                </c:pt>
              </c:numCache>
            </c:numRef>
          </c:val>
        </c:ser>
        <c:axId val="-2068027336"/>
        <c:axId val="-2113994440"/>
        <c:gapWid val="10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.0"/>
          <c:min val="2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  <a:r>
                  <a:t>Mean (1-7)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 b="1">
                <a:solidFill>
                  <a:srgbClr val="333333"/>
                </a:solidFill>
              </a:defRPr>
            </a:pPr>
            <a:r>
              <a:t>b.  Return likelihood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non-sycophantic AI model</c:v>
                </c:pt>
              </c:strCache>
            </c:strRef>
          </c:tx>
          <c:spPr>
            <a:solidFill>
              <a:srgbClr val="87C2E0"/>
            </a:solidFill>
          </c:spPr>
          <c:cat>
            <c:strRef>
              <c:f>Sheet1!$A$2:$A$3</c:f>
              <c:strCache>
                <c:ptCount val="2"/>
                <c:pt idx="0">
                  <c:v>Study 2</c:v>
                </c:pt>
                <c:pt idx="1">
                  <c:v>Study 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4.27</c:v>
                </c:pt>
                <c:pt idx="1">
                  <c:v>4.72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sycophantic AI model</c:v>
                </c:pt>
              </c:strCache>
            </c:strRef>
          </c:tx>
          <c:spPr>
            <a:solidFill>
              <a:srgbClr val="E8963C"/>
            </a:solidFill>
          </c:spPr>
          <c:cat>
            <c:strRef>
              <c:f>Sheet1!$A$2:$A$3</c:f>
              <c:strCache>
                <c:ptCount val="2"/>
                <c:pt idx="0">
                  <c:v>Study 2</c:v>
                </c:pt>
                <c:pt idx="1">
                  <c:v>Study 3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4.81</c:v>
                </c:pt>
                <c:pt idx="1">
                  <c:v>5.33</c:v>
                </c:pt>
              </c:numCache>
            </c:numRef>
          </c:val>
        </c:ser>
        <c:axId val="-2068027336"/>
        <c:axId val="-2113994440"/>
        <c:gapWid val="10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.0"/>
          <c:min val="2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  <a:r>
                  <a:t>Mean (1-7)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 b="1">
                <a:solidFill>
                  <a:srgbClr val="333333"/>
                </a:solidFill>
              </a:defRPr>
            </a:pPr>
            <a:r>
              <a:t>c.  Performance trust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non-sycophantic AI model</c:v>
                </c:pt>
              </c:strCache>
            </c:strRef>
          </c:tx>
          <c:spPr>
            <a:solidFill>
              <a:srgbClr val="87C2E0"/>
            </a:solidFill>
          </c:spPr>
          <c:cat>
            <c:strRef>
              <c:f>Sheet1!$A$2:$A$3</c:f>
              <c:strCache>
                <c:ptCount val="2"/>
                <c:pt idx="0">
                  <c:v>Study 2</c:v>
                </c:pt>
                <c:pt idx="1">
                  <c:v>Study 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4.72</c:v>
                </c:pt>
                <c:pt idx="1">
                  <c:v>5.27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sycophantic AI model</c:v>
                </c:pt>
              </c:strCache>
            </c:strRef>
          </c:tx>
          <c:spPr>
            <a:solidFill>
              <a:srgbClr val="E8963C"/>
            </a:solidFill>
          </c:spPr>
          <c:cat>
            <c:strRef>
              <c:f>Sheet1!$A$2:$A$3</c:f>
              <c:strCache>
                <c:ptCount val="2"/>
                <c:pt idx="0">
                  <c:v>Study 2</c:v>
                </c:pt>
                <c:pt idx="1">
                  <c:v>Study 3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4.99</c:v>
                </c:pt>
                <c:pt idx="1">
                  <c:v>5.7</c:v>
                </c:pt>
              </c:numCache>
            </c:numRef>
          </c:val>
        </c:ser>
        <c:axId val="-2068027336"/>
        <c:axId val="-2113994440"/>
        <c:gapWid val="10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.0"/>
          <c:min val="2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  <a:r>
                  <a:t>Mean (1-7)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 b="1">
                <a:solidFill>
                  <a:srgbClr val="333333"/>
                </a:solidFill>
              </a:defRPr>
            </a:pPr>
            <a:r>
              <a:t>d.  Moral trust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non-sycophantic AI model</c:v>
                </c:pt>
              </c:strCache>
            </c:strRef>
          </c:tx>
          <c:spPr>
            <a:solidFill>
              <a:srgbClr val="87C2E0"/>
            </a:solidFill>
          </c:spPr>
          <c:cat>
            <c:strRef>
              <c:f>Sheet1!$A$2:$A$3</c:f>
              <c:strCache>
                <c:ptCount val="2"/>
                <c:pt idx="0">
                  <c:v>Study 2</c:v>
                </c:pt>
                <c:pt idx="1">
                  <c:v>Study 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4.62</c:v>
                </c:pt>
                <c:pt idx="1">
                  <c:v>5.18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sycophantic AI model</c:v>
                </c:pt>
              </c:strCache>
            </c:strRef>
          </c:tx>
          <c:spPr>
            <a:solidFill>
              <a:srgbClr val="E8963C"/>
            </a:solidFill>
          </c:spPr>
          <c:cat>
            <c:strRef>
              <c:f>Sheet1!$A$2:$A$3</c:f>
              <c:strCache>
                <c:ptCount val="2"/>
                <c:pt idx="0">
                  <c:v>Study 2</c:v>
                </c:pt>
                <c:pt idx="1">
                  <c:v>Study 3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4.91</c:v>
                </c:pt>
                <c:pt idx="1">
                  <c:v>5.63</c:v>
                </c:pt>
              </c:numCache>
            </c:numRef>
          </c:val>
        </c:ser>
        <c:axId val="-2068027336"/>
        <c:axId val="-2113994440"/>
        <c:gapWid val="10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.0"/>
          <c:min val="2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  <a:r>
                  <a:t>Mean (1-7)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4    用户对阿谀奉承型人工智能模型的信任和偏好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822960"/>
            <a:ext cx="201168" cy="201168"/>
          </a:xfrm>
          <a:prstGeom prst="rect">
            <a:avLst/>
          </a:prstGeom>
          <a:solidFill>
            <a:srgbClr val="87C2E0"/>
          </a:solidFill>
          <a:ln>
            <a:solidFill>
              <a:srgbClr val="87C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56432" y="777240"/>
            <a:ext cx="1645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non-sycophantic AI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80" y="822960"/>
            <a:ext cx="201168" cy="201168"/>
          </a:xfrm>
          <a:prstGeom prst="rect">
            <a:avLst/>
          </a:prstGeom>
          <a:solidFill>
            <a:srgbClr val="E8963C"/>
          </a:solidFill>
          <a:ln>
            <a:solidFill>
              <a:srgbClr val="E89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68112" y="777240"/>
            <a:ext cx="1645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sycophantic AI model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65760" y="1097280"/>
          <a:ext cx="274320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309360" y="1097280"/>
          <a:ext cx="2743200" cy="228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" y="3657600"/>
          <a:ext cx="2743200" cy="228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09360" y="3657600"/>
          <a:ext cx="2743200" cy="2286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5760" y="60350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333333"/>
                </a:solidFill>
              </a:defRPr>
            </a:pPr>
            <a:r>
              <a:t>图5：在研究2和研究3中，参与者在与奉承型（Syco）人工智能模型互动后，报告了更高的再次互动可能性、响应质量和信任度，而与非奉承型（Non-syco）人工智能模型互动后则未报告此结果。柱状图显示了平均评分（1-7分李克特量表）及其95%置信区间（1.96）。± 标准误差）。每对柱状图都标注了均值之差（Syco）。– 非谄媚型）及其相对百分比变化。这揭示了谄媚行为的明显动机：它更符合用户的即时偏好，并助长了对人工智能模型的依赖。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